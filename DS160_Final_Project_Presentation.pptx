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3"/>
    <p:sldId id="257" r:id="rId2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62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8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7391D-D800-AF4B-9BCC-050FD0BF55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3570" y="1122363"/>
            <a:ext cx="7315199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B2A6F-6709-514E-BFC6-9A4A7329A1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3570" y="3602038"/>
            <a:ext cx="7315199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2D3AD-8629-3943-936D-B62EEF2E9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F098A-A3EE-384E-8702-C3374676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BA1B-DDA8-3F42-87AD-7D1A63721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0306E680-6A26-9C48-87BF-4368862B9A1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53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7391D-D800-AF4B-9BCC-050FD0BF55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3570" y="1122363"/>
            <a:ext cx="7315199" cy="2387600"/>
          </a:xfrm>
        </p:spPr>
        <p:txBody>
          <a:bodyPr anchor="b"/>
          <a:lstStyle>
            <a:lvl1pPr algn="ctr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B2A6F-6709-514E-BFC6-9A4A7329A1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3570" y="3602038"/>
            <a:ext cx="7315199" cy="1655762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2D3AD-8629-3943-936D-B62EEF2E9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F098A-A3EE-384E-8702-C3374676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BA1B-DDA8-3F42-87AD-7D1A63721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6955C273-3410-C447-B8B7-5FDFF0F32A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984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E5C75-2456-E24C-A74E-E3F68183E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5908F-63CC-1B4E-947D-0F7354761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D3A58-FFD8-4940-A7F0-8B2B57C9A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CE6D3E-6D5E-D349-938B-E0B3301AF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B6C36-FD1B-BE4B-974D-B33D0A7B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969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BCD9A-4C4D-C04D-B628-4D6821CF99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1" y="1709742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76D619-9256-5342-BA68-AA592831FA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7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652CD-DA0F-E044-884E-A857BA135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B41647-D227-6B41-9AD6-182E7AE90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12F90-7608-D14B-BE6C-B6E7C3BFE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B1F2DD4F-54D8-DF4E-89F0-75242AE735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443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955F1-41C9-F741-ABCA-148F72FF7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8B0D0-CB2A-5B49-AFAE-C401DC85D4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CFA190-6116-CE4E-880A-2A5FD5E9FA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46A325-B878-6048-96EA-AD37D9146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794E63-81BD-D34E-9FB6-590D87A2C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D2F3FA-6596-F141-A53F-FDEC5D0FD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75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786C4-8A82-2E47-BA0A-3B4FD275E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DAD30-26CB-894D-B249-16631B50FF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4E37DF-FCA3-9345-8F1B-3B2DEECC38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2A7F32-108C-0147-BF1C-151D185797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5A79B9-C154-E741-8BC5-8B95F0D251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3A23CC-9985-5B43-B4F5-7A65FBBBB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A89551-72F1-6A40-B02D-98C9990F1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3ACEE8-777A-5940-9519-1D826BCAD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17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60DEB-C558-DB4D-9DBB-60DA77C03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DA75B9-E07E-614C-9F6C-7943A325F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76482A-9624-104B-AFF8-5DE40120A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BB9DE2-8332-1E4D-806B-6DDB78385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843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10AD24-3C30-D545-822F-3EF5F7FE4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31DBBA-BE87-D441-B84D-D8F2DAF19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2A5FB-A616-8D45-9939-E7B334615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119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8ADA5-6E94-DB46-948A-CE55B2255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303E3-1AEE-0E46-A78B-8B0925632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F0A59D-5684-1941-8033-29499AF5C6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F289D9-B751-654C-8849-B701A522D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8A2888-A517-7A40-9678-F86659CA1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386589-428D-8542-B91B-AA693B17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707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3A8F6-F979-A948-9E97-51A384265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DC9482-4942-9A42-9B6B-9A6D0C3F5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ABD93E-E334-794F-AAA4-ED2738BD9F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F2F737-FC71-3D41-A122-65FFC9186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97691-9973-4B46-AE83-6A5F333C7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99189-E24D-B94A-A884-A8AF80D2C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248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739EF-4096-1A49-9AD4-0655F121A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2AF70-1E65-534B-9153-913A0A9E45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ECE82-C65F-6B43-ABA4-3EB664450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09C77-D8D0-FB43-910C-1F4903065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FDC7-F78C-EE40-982D-9189AE7D3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1022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CDA1A7-5913-1444-B7D0-0B55BA2D78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05413-85D9-A548-83D7-268A900CCC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033B9-EFDB-514F-8EDA-0D81C8C45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4CC90F-E680-5346-AB4F-974271576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E2FA6-882C-6645-8A51-A07C0F71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5428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69A89C3-E6FA-684D-8BAE-1760B34F554E}"/>
              </a:ext>
            </a:extLst>
          </p:cNvPr>
          <p:cNvSpPr/>
          <p:nvPr userDrawn="1"/>
        </p:nvSpPr>
        <p:spPr>
          <a:xfrm>
            <a:off x="0" y="6356350"/>
            <a:ext cx="12192000" cy="501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71C330-0F02-8249-82EC-9F3A278C0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53E27E-2040-824D-B637-1C07F3E06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D629B-BAF4-A343-8BF1-1572AB380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2827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fld id="{C171DC17-4A50-5F49-AEC7-C955C81B92E5}" type="datetimeFigureOut">
              <a:rPr lang="en-US" smtClean="0"/>
              <a:pPr/>
              <a:t>12/2/20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1F82B-A72E-B848-BB19-0207CDE46B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2827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1620FE-B066-7C49-9BDF-AF56CC193D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2827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09B8F8C4-05A7-DC4E-8BB7-4202EC4ACBF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A6F54A4B-B617-B54F-B600-5EFC28C265A6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1056147" y="185741"/>
            <a:ext cx="961397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87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Predicting Total Enrollment at U.S. Higher Education Institutions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200" b="0"/>
              <a:t>A Multiple Linear Regression Approach Using the 2013 IPEDS Dataset</a:t>
            </a:r>
          </a:p>
          <a:p>
            <a:r>
              <a:rPr sz="1000" b="0"/>
              <a:t/>
            </a:r>
          </a:p>
          <a:p>
            <a:r>
              <a:rPr sz="1800" b="0"/>
              <a:t>Will Sanderfer  •  Taylor Dunkle</a:t>
            </a:r>
          </a:p>
          <a:p>
            <a:r>
              <a:rPr sz="1600" b="0"/>
              <a:t>DS160-01  •  Final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02020"/>
                </a:solidFill>
              </a:rPr>
              <a:t>Predict total enrollment at U.S. higher education institutions from publicly available 2013 data.</a:t>
            </a:r>
          </a:p>
          <a:p>
            <a:pPr/>
            <a:r>
              <a:rPr sz="2200" b="0">
                <a:solidFill>
                  <a:srgbClr val="202020"/>
                </a:solidFill>
              </a:rPr>
              <a:t>Model type: Multiple Linear Regression (continuous target).</a:t>
            </a:r>
          </a:p>
          <a:p>
            <a:pPr/>
            <a:r>
              <a:rPr sz="2200" b="0">
                <a:solidFill>
                  <a:srgbClr val="202020"/>
                </a:solidFill>
              </a:rPr>
              <a:t>Dataset: IPEDS 2013, 1,534 institutions, 145 variables.</a:t>
            </a:r>
          </a:p>
          <a:p>
            <a:pPr/>
            <a:r>
              <a:rPr sz="2000" b="0">
                <a:solidFill>
                  <a:srgbClr val="202020"/>
                </a:solidFill>
              </a:rPr>
              <a:t>Why it matters: enrollment drives revenue, staffing, and capacity, so understanding its drivers is useful for administrators and prospective students alike.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The Dataset: IPEDS 2013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 b="0">
                <a:solidFill>
                  <a:srgbClr val="202020"/>
                </a:solidFill>
              </a:rPr>
              <a:t>IPEDS = Integrated Postsecondary Education Data System (NCES).</a:t>
            </a:r>
          </a:p>
          <a:p>
            <a:pPr/>
            <a:r>
              <a:rPr sz="2000" b="0">
                <a:solidFill>
                  <a:srgbClr val="202020"/>
                </a:solidFill>
              </a:rPr>
              <a:t>Mandatory reporting for every institution in federal student aid programs.</a:t>
            </a:r>
          </a:p>
          <a:p>
            <a:pPr/>
            <a:r>
              <a:rPr sz="2000" b="1">
                <a:solidFill>
                  <a:srgbClr val="202020"/>
                </a:solidFill>
              </a:rPr>
              <a:t>Variable naming pattern: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IC2013 → admissions &amp; academic data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HD2013 → institutional information (control, location)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SFA1213 → financial aid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EF2013 → enrollment figures</a:t>
            </a:r>
          </a:p>
          <a:p>
            <a:pPr/>
            <a:r>
              <a:rPr sz="2000" b="1">
                <a:solidFill>
                  <a:srgbClr val="202020"/>
                </a:solidFill>
              </a:rPr>
              <a:t>Target: Total enrollment. Range 66 to 77,338 students, median 3,127.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The Problem &amp; Data Leakage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1">
                <a:solidFill>
                  <a:srgbClr val="202020"/>
                </a:solidFill>
              </a:rPr>
              <a:t>Avoiding data leakage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Target: Total enrollment.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Variables like Undergraduate, Graduate, Full-time enrollment are components of the target. Using them yields a fake-perfect model.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These variables are excluded from every feature set.</a:t>
            </a:r>
          </a:p>
          <a:p>
            <a:pPr/>
            <a:r>
              <a:rPr sz="2200" b="1">
                <a:solidFill>
                  <a:srgbClr val="202020"/>
                </a:solidFill>
              </a:rPr>
              <a:t>Honest predictors used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Numeric: Applicants, % Admitted, Tuition, SAT/ACT scores, Pell %, Graduation rate.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Categorical: Control of institution, Highest degree offered.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EDA: Target is Right-Skewed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63040"/>
            <a:ext cx="5303520" cy="4572000"/>
          </a:xfrm>
        </p:spPr>
        <p:txBody>
          <a:bodyPr/>
          <a:lstStyle/>
          <a:p>
            <a:pPr/>
            <a:r>
              <a:rPr sz="2000" b="1">
                <a:solidFill>
                  <a:srgbClr val="202020"/>
                </a:solidFill>
              </a:rPr>
              <a:t>Raw skewness = 2.49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Most schools are small; a long tail of mega-universities (77K+ students) pulls the mean far above the median.</a:t>
            </a:r>
          </a:p>
          <a:p>
            <a:pPr/>
            <a:r>
              <a:rPr sz="2000" b="1">
                <a:solidFill>
                  <a:srgbClr val="202020"/>
                </a:solidFill>
              </a:rPr>
              <a:t>log(1 + enrollment) → skew of 0.07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Nearly normal. Errors now interpretable multiplicatively.</a:t>
            </a:r>
          </a:p>
          <a:p>
            <a:pPr/>
            <a:r>
              <a:rPr sz="2000" b="1">
                <a:solidFill>
                  <a:srgbClr val="202020"/>
                </a:solidFill>
              </a:rPr>
              <a:t>All models use log target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R² reported on log scale; RMSE reported back-transformed to students.</a:t>
            </a:r>
          </a:p>
        </p:txBody>
      </p:sp>
      <p:pic>
        <p:nvPicPr>
          <p:cNvPr id="4" name="Picture 3" descr="fig1_target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852160" cy="2095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35040" y="3931920"/>
            <a:ext cx="5852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/>
              <a:t>Figure 1: Target distribution before and after log transform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EDA: What Correlates with Enrollment?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63040"/>
            <a:ext cx="5120640" cy="4572000"/>
          </a:xfrm>
        </p:spPr>
        <p:txBody>
          <a:bodyPr/>
          <a:lstStyle/>
          <a:p>
            <a:pPr/>
            <a:r>
              <a:rPr sz="1900" b="1">
                <a:solidFill>
                  <a:srgbClr val="202020"/>
                </a:solidFill>
              </a:rPr>
              <a:t>Strong positive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Admissions (0.73), Applicants (0.67)</a:t>
            </a:r>
          </a:p>
          <a:p>
            <a:pPr/>
            <a:r>
              <a:rPr sz="1900" b="1">
                <a:solidFill>
                  <a:srgbClr val="202020"/>
                </a:solidFill>
              </a:rPr>
              <a:t>Moderate positive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SAT Math 75p (0.33), Graduation rate (0.19)</a:t>
            </a:r>
          </a:p>
          <a:p>
            <a:pPr/>
            <a:r>
              <a:rPr sz="1900" b="1">
                <a:solidFill>
                  <a:srgbClr val="202020"/>
                </a:solidFill>
              </a:rPr>
              <a:t>Negative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% Financial aid (-0.38), Tuition (-0.28), % Pell (-0.28)</a:t>
            </a:r>
          </a:p>
          <a:p>
            <a:pPr/>
            <a:r>
              <a:rPr sz="1900" b="1">
                <a:solidFill>
                  <a:srgbClr val="202020"/>
                </a:solidFill>
              </a:rPr>
              <a:t>Multicollinearity flags</a:t>
            </a:r>
          </a:p>
          <a:p>
            <a:pPr lvl="1"/>
            <a:r>
              <a:rPr sz="1600" b="0">
                <a:solidFill>
                  <a:srgbClr val="202020"/>
                </a:solidFill>
              </a:rPr>
              <a:t>SAT ↔ ACT: r = 0.91   |   SAT ↔ Pell: r = -0.75</a:t>
            </a:r>
          </a:p>
          <a:p>
            <a:pPr lvl="1"/>
            <a:r>
              <a:rPr sz="1600" b="0">
                <a:solidFill>
                  <a:srgbClr val="202020"/>
                </a:solidFill>
              </a:rPr>
              <a:t>Kept one predictor from each correlated pair in Feature Set B.</a:t>
            </a:r>
          </a:p>
        </p:txBody>
      </p:sp>
      <p:pic>
        <p:nvPicPr>
          <p:cNvPr id="4" name="Picture 3" descr="fig2_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5120640" cy="45535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5715000"/>
            <a:ext cx="5852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/>
              <a:t>Figure 2: Correlation matrix of predictors and log(Total Enrollment)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Data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 b="0">
                <a:solidFill>
                  <a:srgbClr val="202020"/>
                </a:solidFill>
              </a:rPr>
              <a:t>Dropped 2 rows with missing target.</a:t>
            </a:r>
          </a:p>
          <a:p>
            <a:pPr/>
            <a:r>
              <a:rPr sz="2000" b="0">
                <a:solidFill>
                  <a:srgbClr val="202020"/>
                </a:solidFill>
              </a:rPr>
              <a:t>Applied log1p transform to the target.</a:t>
            </a:r>
          </a:p>
          <a:p>
            <a:pPr/>
            <a:r>
              <a:rPr sz="2000" b="0">
                <a:solidFill>
                  <a:srgbClr val="202020"/>
                </a:solidFill>
              </a:rPr>
              <a:t>Complete-case analysis per experiment (no imputation, since SAT is "missing for a reason").</a:t>
            </a:r>
          </a:p>
          <a:p>
            <a:pPr/>
            <a:r>
              <a:rPr sz="2000" b="0">
                <a:solidFill>
                  <a:srgbClr val="202020"/>
                </a:solidFill>
              </a:rPr>
              <a:t>One-hot encoded categoricals with drop_first=True.</a:t>
            </a:r>
          </a:p>
          <a:p>
            <a:pPr/>
            <a:r>
              <a:rPr sz="2000" b="0">
                <a:solidFill>
                  <a:srgbClr val="202020"/>
                </a:solidFill>
              </a:rPr>
              <a:t>StandardScaler fit on training set only, applied to both train and test.</a:t>
            </a:r>
          </a:p>
          <a:p>
            <a:pPr/>
            <a:r>
              <a:rPr sz="2000" b="0">
                <a:solidFill>
                  <a:srgbClr val="202020"/>
                </a:solidFill>
              </a:rPr>
              <a:t>Excluded enrollment-component variables to avoid data leakage.</a:t>
            </a:r>
          </a:p>
          <a:p>
            <a:pPr/>
            <a:r>
              <a:rPr sz="2000" b="0">
                <a:solidFill>
                  <a:srgbClr val="202020"/>
                </a:solidFill>
              </a:rPr>
              <a:t>Excluded Admissions total (redundant with Applicants × % Admitted).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Experimental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1">
                <a:solidFill>
                  <a:srgbClr val="202020"/>
                </a:solidFill>
              </a:rPr>
              <a:t>Two feature sets × two train/test splits = 4 experiments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Feature Set A (4 numeric): Applicants, % Admitted, Tuition, 6-yr Graduation Rate.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Feature Set B (A + 4): SAT Math 75p, % Pell, Control of institution, Highest degree offered.</a:t>
            </a:r>
          </a:p>
          <a:p>
            <a:pPr/>
            <a:r>
              <a:rPr sz="2200" b="1">
                <a:solidFill>
                  <a:srgbClr val="202020"/>
                </a:solidFill>
              </a:rPr>
              <a:t>Splits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Exp 1: Feature Set A, 80 / 20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Exp 2: Feature Set A, 70 / 30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Exp 3: Feature Set B, 80 / 20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Exp 4: Feature Set B, 70 / 30</a:t>
            </a:r>
          </a:p>
          <a:p>
            <a:pPr/>
            <a:r>
              <a:rPr sz="1700" b="0">
                <a:solidFill>
                  <a:srgbClr val="202020"/>
                </a:solidFill>
              </a:rPr>
              <a:t>All runs: scikit-learn LinearRegression, random_state=42, standardized features.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Results: Feature Set B Wins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Experiment</a:t>
                      </a:r>
                    </a:p>
                  </a:txBody>
                  <a:tcPr>
                    <a:solidFill>
                      <a:srgbClr val="861F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861F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>
                    <a:solidFill>
                      <a:srgbClr val="861F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R² test</a:t>
                      </a:r>
                    </a:p>
                  </a:txBody>
                  <a:tcPr>
                    <a:solidFill>
                      <a:srgbClr val="861F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RMSE (log)</a:t>
                      </a:r>
                    </a:p>
                  </a:txBody>
                  <a:tcPr>
                    <a:solidFill>
                      <a:srgbClr val="861F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Exp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Set A (4 numeric)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80 / 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0.588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0.698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Exp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Set A (4 numeric)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70 /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0.613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0.693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Exp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Set B (6 num + 2 cat)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80 / 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0.776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0.538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2020"/>
                          </a:solidFill>
                        </a:rPr>
                        <a:t>Exp 4</a:t>
                      </a:r>
                    </a:p>
                  </a:txBody>
                  <a:tcPr>
                    <a:solidFill>
                      <a:srgbClr val="FD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2020"/>
                          </a:solidFill>
                        </a:rPr>
                        <a:t>Set B (6 num + 2 cat) ← best</a:t>
                      </a:r>
                    </a:p>
                  </a:txBody>
                  <a:tcPr>
                    <a:solidFill>
                      <a:srgbClr val="FD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2020"/>
                          </a:solidFill>
                        </a:rPr>
                        <a:t>70 / 30</a:t>
                      </a:r>
                    </a:p>
                  </a:txBody>
                  <a:tcPr>
                    <a:solidFill>
                      <a:srgbClr val="FD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2020"/>
                          </a:solidFill>
                        </a:rPr>
                        <a:t>0.780</a:t>
                      </a:r>
                    </a:p>
                  </a:txBody>
                  <a:tcPr>
                    <a:solidFill>
                      <a:srgbClr val="FD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2020"/>
                          </a:solidFill>
                        </a:rPr>
                        <a:t>0.538</a:t>
                      </a:r>
                    </a:p>
                  </a:txBody>
                  <a:tcPr>
                    <a:solidFill>
                      <a:srgbClr val="FDECF0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800" b="1">
                <a:solidFill>
                  <a:srgbClr val="861F41"/>
                </a:solidFill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0"/>
            <a:ext cx="111556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800" b="0">
                <a:solidFill>
                  <a:srgbClr val="202020"/>
                </a:solidFill>
              </a:rPr>
              <a:t>•  Adding 2 categorical variables jumps test R² from ~0.59 to ~0.78.
•  80/20 vs 70/30 split barely matters (&lt; 0.01 R² difference), so the result holds up.
•  Best model MAE ≈ 3,700 students on the raw student scale.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Best Model: Predicted vs. 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63040"/>
            <a:ext cx="4480560" cy="4572000"/>
          </a:xfrm>
        </p:spPr>
        <p:txBody>
          <a:bodyPr/>
          <a:lstStyle/>
          <a:p>
            <a:pPr/>
            <a:r>
              <a:rPr sz="1800" b="1">
                <a:solidFill>
                  <a:srgbClr val="202020"/>
                </a:solidFill>
              </a:rPr>
              <a:t>Top standardized coefficients (Exp 4)</a:t>
            </a:r>
          </a:p>
          <a:p>
            <a:pPr lvl="1"/>
            <a:r>
              <a:rPr sz="1500" b="0">
                <a:solidFill>
                  <a:srgbClr val="202020"/>
                </a:solidFill>
              </a:rPr>
              <a:t>Doctoral (research + practice): +0.59</a:t>
            </a:r>
          </a:p>
          <a:p>
            <a:pPr lvl="1"/>
            <a:r>
              <a:rPr sz="1500" b="0">
                <a:solidFill>
                  <a:srgbClr val="202020"/>
                </a:solidFill>
              </a:rPr>
              <a:t>Applicants total: +0.44</a:t>
            </a:r>
          </a:p>
          <a:p>
            <a:pPr lvl="1"/>
            <a:r>
              <a:rPr sz="1500" b="0">
                <a:solidFill>
                  <a:srgbClr val="202020"/>
                </a:solidFill>
              </a:rPr>
              <a:t>Control = Public: +0.38</a:t>
            </a:r>
          </a:p>
          <a:p>
            <a:pPr lvl="1"/>
            <a:r>
              <a:rPr sz="1500" b="0">
                <a:solidFill>
                  <a:srgbClr val="202020"/>
                </a:solidFill>
              </a:rPr>
              <a:t>Doctoral (research/scholarship): +0.35</a:t>
            </a:r>
          </a:p>
          <a:p>
            <a:pPr lvl="1"/>
            <a:r>
              <a:rPr sz="1500" b="0">
                <a:solidFill>
                  <a:srgbClr val="202020"/>
                </a:solidFill>
              </a:rPr>
              <a:t>Master's degree: +0.24</a:t>
            </a:r>
          </a:p>
          <a:p>
            <a:pPr lvl="1"/>
            <a:r>
              <a:rPr sz="1500" b="0">
                <a:solidFill>
                  <a:srgbClr val="202020"/>
                </a:solidFill>
              </a:rPr>
              <a:t>SAT Math 75p: +0.15</a:t>
            </a:r>
          </a:p>
          <a:p>
            <a:pPr/>
            <a:r>
              <a:rPr sz="1800" b="1">
                <a:solidFill>
                  <a:srgbClr val="202020"/>
                </a:solidFill>
              </a:rPr>
              <a:t>Institutional type matters most</a:t>
            </a:r>
          </a:p>
          <a:p>
            <a:pPr lvl="1"/>
            <a:r>
              <a:rPr sz="1400" b="0">
                <a:solidFill>
                  <a:srgbClr val="202020"/>
                </a:solidFill>
              </a:rPr>
              <a:t>Residuals show a mild fan. The model under-predicts the largest universities.</a:t>
            </a:r>
          </a:p>
        </p:txBody>
      </p:sp>
      <p:pic>
        <p:nvPicPr>
          <p:cNvPr id="4" name="Picture 3" descr="fig5_pred_v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554480"/>
            <a:ext cx="6858000" cy="27709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5029200"/>
            <a:ext cx="6858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/>
              <a:t>Figure 3: Predicted vs. Actual and Residuals (best model)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1">
                <a:solidFill>
                  <a:srgbClr val="202020"/>
                </a:solidFill>
              </a:rPr>
              <a:t>What we learned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Simple OLS explains ~78% of variance in log(enrollment) on held-out data.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Institutional type (degree + control) matters more than any single numeric metric.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Log transform + avoiding data leakage were the two biggest wins.</a:t>
            </a:r>
          </a:p>
          <a:p>
            <a:pPr/>
            <a:r>
              <a:rPr sz="2200" b="1">
                <a:solidFill>
                  <a:srgbClr val="202020"/>
                </a:solidFill>
              </a:rPr>
              <a:t>Limitations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Under-predicts the largest universities; mild heteroscedasticity.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Complete-case analysis means results generalize only to SAT-reporting institutions.</a:t>
            </a:r>
          </a:p>
          <a:p>
            <a:pPr/>
            <a:r>
              <a:rPr sz="2200" b="1">
                <a:solidFill>
                  <a:srgbClr val="202020"/>
                </a:solidFill>
              </a:rPr>
              <a:t>Future work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Fit a Random Forest / Gradient Boosting regressor and compare.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Use multi-year IPEDS data to model enrollment growth rather than level.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ellarmine Palett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752836"/>
      </a:accent1>
      <a:accent2>
        <a:srgbClr val="697970"/>
      </a:accent2>
      <a:accent3>
        <a:srgbClr val="C8C8C8"/>
      </a:accent3>
      <a:accent4>
        <a:srgbClr val="F7BE00"/>
      </a:accent4>
      <a:accent5>
        <a:srgbClr val="00677F"/>
      </a:accent5>
      <a:accent6>
        <a:srgbClr val="4D4D4D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ndard Screen Bellarmine Template" id="{109F2BBD-B805-0C47-8BE1-EE5FD54F39DA}" vid="{7B5311A2-F663-764E-9F9C-04F6C47E4FF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Katie Kelty</dc:creator>
  <cp:lastModifiedBy>Katie Kelty</cp:lastModifiedBy>
  <cp:revision>10</cp:revision>
  <dcterms:created xsi:type="dcterms:W3CDTF">2020-08-18T13:57:38Z</dcterms:created>
  <dcterms:modified xsi:type="dcterms:W3CDTF">2020-12-02T15:55:13Z</dcterms:modified>
</cp:coreProperties>
</file>