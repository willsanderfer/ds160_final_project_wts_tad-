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2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2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306E680-6A26-9C48-87BF-4368862B9A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5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955C273-3410-C447-B8B7-5FDFF0F32A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8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5C75-2456-E24C-A74E-E3F68183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908F-63CC-1B4E-947D-0F735476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3A58-FFD8-4940-A7F0-8B2B57C9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E6D3E-6D5E-D349-938B-E0B3301A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B6C36-FD1B-BE4B-974D-B33D0A7B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6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CD9A-4C4D-C04D-B628-4D6821CF9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6D619-9256-5342-BA68-AA592831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52CD-DA0F-E044-884E-A857BA13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41647-D227-6B41-9AD6-182E7AE9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12F90-7608-D14B-BE6C-B6E7C3BF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1F2DD4F-54D8-DF4E-89F0-75242AE73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4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55F1-41C9-F741-ABCA-148F72FF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8B0D0-CB2A-5B49-AFAE-C401DC85D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FA190-6116-CE4E-880A-2A5FD5E9F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6A325-B878-6048-96EA-AD37D914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94E63-81BD-D34E-9FB6-590D87A2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2F3FA-6596-F141-A53F-FDEC5D0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7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86C4-8A82-2E47-BA0A-3B4FD275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DAD30-26CB-894D-B249-16631B50F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E37DF-FCA3-9345-8F1B-3B2DEECC3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A7F32-108C-0147-BF1C-151D18579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A79B9-C154-E741-8BC5-8B95F0D25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A23CC-9985-5B43-B4F5-7A65FBBB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12/2/20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89551-72F1-6A40-B02D-98C9990F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ACEE8-777A-5940-9519-1D826BCA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1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0DEB-C558-DB4D-9DBB-60DA77C0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A75B9-E07E-614C-9F6C-7943A325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12/2/20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6482A-9624-104B-AFF8-5DE40120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B9DE2-8332-1E4D-806B-6DDB7838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0AD24-3C30-D545-822F-3EF5F7FE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12/2/20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1DBBA-BE87-D441-B84D-D8F2DAF1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2A5FB-A616-8D45-9939-E7B33461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1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ADA5-6E94-DB46-948A-CE55B225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03E3-1AEE-0E46-A78B-8B0925632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0A59D-5684-1941-8033-29499AF5C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289D9-B751-654C-8849-B701A52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A2888-A517-7A40-9678-F86659CA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86589-428D-8542-B91B-AA693B17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0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A8F6-F979-A948-9E97-51A38426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C9482-4942-9A42-9B6B-9A6D0C3F5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BD93E-E334-794F-AAA4-ED2738BD9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F737-FC71-3D41-A122-65FFC918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97691-9973-4B46-AE83-6A5F333C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9189-E24D-B94A-A884-A8AF80D2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39EF-4096-1A49-9AD4-0655F121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2AF70-1E65-534B-9153-913A0A9E4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ECE82-C65F-6B43-ABA4-3EB66445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09C77-D8D0-FB43-910C-1F490306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FDC7-F78C-EE40-982D-9189AE7D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02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DA1A7-5913-1444-B7D0-0B55BA2D7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05413-85D9-A548-83D7-268A900CC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33B9-EFDB-514F-8EDA-0D81C8C4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C90F-E680-5346-AB4F-97427157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E2FA6-882C-6645-8A51-A07C0F71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428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9A89C3-E6FA-684D-8BAE-1760B34F554E}"/>
              </a:ext>
            </a:extLst>
          </p:cNvPr>
          <p:cNvSpPr/>
          <p:nvPr userDrawn="1"/>
        </p:nvSpPr>
        <p:spPr>
          <a:xfrm>
            <a:off x="0" y="6356350"/>
            <a:ext cx="12192000" cy="501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1C330-0F02-8249-82EC-9F3A278C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3E27E-2040-824D-B637-1C07F3E06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629B-BAF4-A343-8BF1-1572AB380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C171DC17-4A50-5F49-AEC7-C955C81B92E5}" type="datetimeFigureOut">
              <a:rPr lang="en-US" smtClean="0"/>
              <a:pPr/>
              <a:t>12/2/20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F82B-A72E-B848-BB19-0207CDE46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82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620FE-B066-7C49-9BDF-AF56CC193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9B8F8C4-05A7-DC4E-8BB7-4202EC4ACBF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A6F54A4B-B617-B54F-B600-5EFC28C265A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056147" y="185741"/>
            <a:ext cx="96139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7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861F41"/>
                </a:solidFill>
              </a:rPr>
              <a:t>Predicting Total Enrollment at U.S. Higher Education Institutions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b="0"/>
              <a:t>A Multiple Linear Regression Approach Using the 2013 IPEDS Dataset</a:t>
            </a:r>
          </a:p>
          <a:p>
            <a:r>
              <a:rPr sz="1000" b="0"/>
              <a:t/>
            </a:r>
          </a:p>
          <a:p>
            <a:r>
              <a:rPr sz="1800" b="0"/>
              <a:t>Will Sanderfer  •  Partner Name</a:t>
            </a:r>
          </a:p>
          <a:p>
            <a:r>
              <a:rPr sz="1600" b="0"/>
              <a:t>DS160-01  • 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861F41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0">
                <a:solidFill>
                  <a:srgbClr val="202020"/>
                </a:solidFill>
              </a:rPr>
              <a:t>Predict total enrollment at U.S. higher education institutions from publicly available 2013 data.</a:t>
            </a:r>
          </a:p>
          <a:p>
            <a:pPr/>
            <a:r>
              <a:rPr sz="2200" b="0">
                <a:solidFill>
                  <a:srgbClr val="202020"/>
                </a:solidFill>
              </a:rPr>
              <a:t>Model type: Multiple Linear Regression (continuous target).</a:t>
            </a:r>
          </a:p>
          <a:p>
            <a:pPr/>
            <a:r>
              <a:rPr sz="2200" b="0">
                <a:solidFill>
                  <a:srgbClr val="202020"/>
                </a:solidFill>
              </a:rPr>
              <a:t>Dataset: IPEDS 2013 — 1,534 institutions, 145 variables.</a:t>
            </a:r>
          </a:p>
          <a:p>
            <a:pPr/>
            <a:r>
              <a:rPr sz="2000" b="0">
                <a:solidFill>
                  <a:srgbClr val="202020"/>
                </a:solidFill>
              </a:rPr>
              <a:t>Why it matters: enrollment drives revenue, staffing, and capacity — understanding its drivers is useful for administrators and prospective students alike.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861F41"/>
                </a:solidFill>
              </a:rPr>
              <a:t>The Dataset: IPEDS 2013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202020"/>
                </a:solidFill>
              </a:rPr>
              <a:t>IPEDS = Integrated Postsecondary Education Data System (NCES).</a:t>
            </a:r>
          </a:p>
          <a:p>
            <a:pPr/>
            <a:r>
              <a:rPr sz="2000" b="0">
                <a:solidFill>
                  <a:srgbClr val="202020"/>
                </a:solidFill>
              </a:rPr>
              <a:t>Mandatory reporting for every institution in federal student aid programs.</a:t>
            </a:r>
          </a:p>
          <a:p>
            <a:pPr/>
            <a:r>
              <a:rPr sz="2000" b="1">
                <a:solidFill>
                  <a:srgbClr val="202020"/>
                </a:solidFill>
              </a:rPr>
              <a:t>Variable naming pattern: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IC2013 → admissions &amp; academic data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HD2013 → institutional information (control, location)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SFA1213 → financial aid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EF2013 → enrollment figures</a:t>
            </a:r>
          </a:p>
          <a:p>
            <a:pPr/>
            <a:r>
              <a:rPr sz="2000" b="1">
                <a:solidFill>
                  <a:srgbClr val="202020"/>
                </a:solidFill>
              </a:rPr>
              <a:t>Target: Total enrollment — range 66 to 77,338 students, median 3,127.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861F41"/>
                </a:solidFill>
              </a:rPr>
              <a:t>The Problem &amp; Data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1">
                <a:solidFill>
                  <a:srgbClr val="202020"/>
                </a:solidFill>
              </a:rPr>
              <a:t>Avoiding data leakage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Target: Total enrollment.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Variables like Undergraduate, Graduate, Full-time enrollment are components of the target — using them yields a fake-perfect model.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These variables are excluded from every feature set.</a:t>
            </a:r>
          </a:p>
          <a:p>
            <a:pPr/>
            <a:r>
              <a:rPr sz="2200" b="1">
                <a:solidFill>
                  <a:srgbClr val="202020"/>
                </a:solidFill>
              </a:rPr>
              <a:t>Honest predictors used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Numeric: Applicants, % Admitted, Tuition, SAT/ACT scores, Pell %, Graduation rate.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Categorical: Control of institution, Highest degree offered.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861F41"/>
                </a:solidFill>
              </a:rPr>
              <a:t>EDA: Target is Right-Skewed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303520" cy="4572000"/>
          </a:xfrm>
        </p:spPr>
        <p:txBody>
          <a:bodyPr/>
          <a:lstStyle/>
          <a:p>
            <a:pPr/>
            <a:r>
              <a:rPr sz="2000" b="1">
                <a:solidFill>
                  <a:srgbClr val="202020"/>
                </a:solidFill>
              </a:rPr>
              <a:t>Raw skewness = 2.49</a:t>
            </a:r>
          </a:p>
          <a:p>
            <a:pPr lvl="1"/>
            <a:r>
              <a:rPr sz="1700" b="0">
                <a:solidFill>
                  <a:srgbClr val="202020"/>
                </a:solidFill>
              </a:rPr>
              <a:t>Most schools are small; a long tail of mega-universities (77K+ students) pulls the mean far above the median.</a:t>
            </a:r>
          </a:p>
          <a:p>
            <a:pPr/>
            <a:r>
              <a:rPr sz="2000" b="1">
                <a:solidFill>
                  <a:srgbClr val="202020"/>
                </a:solidFill>
              </a:rPr>
              <a:t>log(1 + enrollment) → skew of 0.07</a:t>
            </a:r>
          </a:p>
          <a:p>
            <a:pPr lvl="1"/>
            <a:r>
              <a:rPr sz="1700" b="0">
                <a:solidFill>
                  <a:srgbClr val="202020"/>
                </a:solidFill>
              </a:rPr>
              <a:t>Nearly normal. Errors now interpretable multiplicatively.</a:t>
            </a:r>
          </a:p>
          <a:p>
            <a:pPr/>
            <a:r>
              <a:rPr sz="2000" b="1">
                <a:solidFill>
                  <a:srgbClr val="202020"/>
                </a:solidFill>
              </a:rPr>
              <a:t>All models use log target</a:t>
            </a:r>
          </a:p>
          <a:p>
            <a:pPr lvl="1"/>
            <a:r>
              <a:rPr sz="1700" b="0">
                <a:solidFill>
                  <a:srgbClr val="202020"/>
                </a:solidFill>
              </a:rPr>
              <a:t>R² reported on log scale; RMSE reported back-transformed to students.</a:t>
            </a:r>
          </a:p>
        </p:txBody>
      </p:sp>
      <p:pic>
        <p:nvPicPr>
          <p:cNvPr id="4" name="Picture 3" descr="fig1_target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852160" cy="20954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3931920"/>
            <a:ext cx="5852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/>
              <a:t>Figure 1: Target distribution before and after log transform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861F41"/>
                </a:solidFill>
              </a:rPr>
              <a:t>EDA: What Correlates with Enrollment?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120640" cy="4572000"/>
          </a:xfrm>
        </p:spPr>
        <p:txBody>
          <a:bodyPr/>
          <a:lstStyle/>
          <a:p>
            <a:pPr/>
            <a:r>
              <a:rPr sz="1900" b="1">
                <a:solidFill>
                  <a:srgbClr val="202020"/>
                </a:solidFill>
              </a:rPr>
              <a:t>Strong positive</a:t>
            </a:r>
          </a:p>
          <a:p>
            <a:pPr lvl="1"/>
            <a:r>
              <a:rPr sz="1700" b="0">
                <a:solidFill>
                  <a:srgbClr val="202020"/>
                </a:solidFill>
              </a:rPr>
              <a:t>Admissions (0.73), Applicants (0.67)</a:t>
            </a:r>
          </a:p>
          <a:p>
            <a:pPr/>
            <a:r>
              <a:rPr sz="1900" b="1">
                <a:solidFill>
                  <a:srgbClr val="202020"/>
                </a:solidFill>
              </a:rPr>
              <a:t>Moderate positive</a:t>
            </a:r>
          </a:p>
          <a:p>
            <a:pPr lvl="1"/>
            <a:r>
              <a:rPr sz="1700" b="0">
                <a:solidFill>
                  <a:srgbClr val="202020"/>
                </a:solidFill>
              </a:rPr>
              <a:t>SAT Math 75p (0.33), Graduation rate (0.19)</a:t>
            </a:r>
          </a:p>
          <a:p>
            <a:pPr/>
            <a:r>
              <a:rPr sz="1900" b="1">
                <a:solidFill>
                  <a:srgbClr val="202020"/>
                </a:solidFill>
              </a:rPr>
              <a:t>Negative</a:t>
            </a:r>
          </a:p>
          <a:p>
            <a:pPr lvl="1"/>
            <a:r>
              <a:rPr sz="1700" b="0">
                <a:solidFill>
                  <a:srgbClr val="202020"/>
                </a:solidFill>
              </a:rPr>
              <a:t>% Financial aid (-0.38), Tuition (-0.28), % Pell (-0.28)</a:t>
            </a:r>
          </a:p>
          <a:p>
            <a:pPr/>
            <a:r>
              <a:rPr sz="1900" b="1">
                <a:solidFill>
                  <a:srgbClr val="202020"/>
                </a:solidFill>
              </a:rPr>
              <a:t>Multicollinearity flags</a:t>
            </a:r>
          </a:p>
          <a:p>
            <a:pPr lvl="1"/>
            <a:r>
              <a:rPr sz="1600" b="0">
                <a:solidFill>
                  <a:srgbClr val="202020"/>
                </a:solidFill>
              </a:rPr>
              <a:t>SAT ↔ ACT: r = 0.91   |   SAT ↔ Pell: r = -0.75</a:t>
            </a:r>
          </a:p>
          <a:p>
            <a:pPr lvl="1"/>
            <a:r>
              <a:rPr sz="1600" b="0">
                <a:solidFill>
                  <a:srgbClr val="202020"/>
                </a:solidFill>
              </a:rPr>
              <a:t>Kept one predictor from each correlated pair in Feature Set B.</a:t>
            </a:r>
          </a:p>
        </p:txBody>
      </p:sp>
      <p:pic>
        <p:nvPicPr>
          <p:cNvPr id="4" name="Picture 3" descr="fig2_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120640" cy="45535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5715000"/>
            <a:ext cx="5852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/>
              <a:t>Figure 2: Correlation matrix of predictors and log(Total Enrollment)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861F41"/>
                </a:solidFill>
              </a:rP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202020"/>
                </a:solidFill>
              </a:rPr>
              <a:t>Dropped 2 rows with missing target.</a:t>
            </a:r>
          </a:p>
          <a:p>
            <a:pPr/>
            <a:r>
              <a:rPr sz="2000" b="0">
                <a:solidFill>
                  <a:srgbClr val="202020"/>
                </a:solidFill>
              </a:rPr>
              <a:t>Applied log1p transform to the target.</a:t>
            </a:r>
          </a:p>
          <a:p>
            <a:pPr/>
            <a:r>
              <a:rPr sz="2000" b="0">
                <a:solidFill>
                  <a:srgbClr val="202020"/>
                </a:solidFill>
              </a:rPr>
              <a:t>Complete-case analysis per experiment (no imputation — SAT is "missing for a reason").</a:t>
            </a:r>
          </a:p>
          <a:p>
            <a:pPr/>
            <a:r>
              <a:rPr sz="2000" b="0">
                <a:solidFill>
                  <a:srgbClr val="202020"/>
                </a:solidFill>
              </a:rPr>
              <a:t>One-hot encoded categoricals with drop_first=True.</a:t>
            </a:r>
          </a:p>
          <a:p>
            <a:pPr/>
            <a:r>
              <a:rPr sz="2000" b="0">
                <a:solidFill>
                  <a:srgbClr val="202020"/>
                </a:solidFill>
              </a:rPr>
              <a:t>StandardScaler fit on training set only, applied to both train and test.</a:t>
            </a:r>
          </a:p>
          <a:p>
            <a:pPr/>
            <a:r>
              <a:rPr sz="2000" b="0">
                <a:solidFill>
                  <a:srgbClr val="202020"/>
                </a:solidFill>
              </a:rPr>
              <a:t>Excluded enrollment-component variables to avoid data leakage.</a:t>
            </a:r>
          </a:p>
          <a:p>
            <a:pPr/>
            <a:r>
              <a:rPr sz="2000" b="0">
                <a:solidFill>
                  <a:srgbClr val="202020"/>
                </a:solidFill>
              </a:rPr>
              <a:t>Excluded Admissions total (redundant with Applicants × % Admitted).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861F41"/>
                </a:solidFill>
              </a:rPr>
              <a:t>Experimental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1">
                <a:solidFill>
                  <a:srgbClr val="202020"/>
                </a:solidFill>
              </a:rPr>
              <a:t>Two feature sets × two train/test splits = 4 experiments</a:t>
            </a:r>
          </a:p>
          <a:p>
            <a:pPr lvl="1"/>
            <a:r>
              <a:rPr sz="1700" b="0">
                <a:solidFill>
                  <a:srgbClr val="202020"/>
                </a:solidFill>
              </a:rPr>
              <a:t>Feature Set A (4 numeric): Applicants, % Admitted, Tuition, 6-yr Graduation Rate.</a:t>
            </a:r>
          </a:p>
          <a:p>
            <a:pPr lvl="1"/>
            <a:r>
              <a:rPr sz="1700" b="0">
                <a:solidFill>
                  <a:srgbClr val="202020"/>
                </a:solidFill>
              </a:rPr>
              <a:t>Feature Set B (A + 4): SAT Math 75p, % Pell, Control of institution, Highest degree offered.</a:t>
            </a:r>
          </a:p>
          <a:p>
            <a:pPr/>
            <a:r>
              <a:rPr sz="2200" b="1">
                <a:solidFill>
                  <a:srgbClr val="202020"/>
                </a:solidFill>
              </a:rPr>
              <a:t>Splits</a:t>
            </a:r>
          </a:p>
          <a:p>
            <a:pPr lvl="1"/>
            <a:r>
              <a:rPr sz="1700" b="0">
                <a:solidFill>
                  <a:srgbClr val="202020"/>
                </a:solidFill>
              </a:rPr>
              <a:t>Exp 1: Feature Set A  —  80 / 20</a:t>
            </a:r>
          </a:p>
          <a:p>
            <a:pPr lvl="1"/>
            <a:r>
              <a:rPr sz="1700" b="0">
                <a:solidFill>
                  <a:srgbClr val="202020"/>
                </a:solidFill>
              </a:rPr>
              <a:t>Exp 2: Feature Set A  —  70 / 30</a:t>
            </a:r>
          </a:p>
          <a:p>
            <a:pPr lvl="1"/>
            <a:r>
              <a:rPr sz="1700" b="0">
                <a:solidFill>
                  <a:srgbClr val="202020"/>
                </a:solidFill>
              </a:rPr>
              <a:t>Exp 3: Feature Set B  —  80 / 20</a:t>
            </a:r>
          </a:p>
          <a:p>
            <a:pPr lvl="1"/>
            <a:r>
              <a:rPr sz="1700" b="0">
                <a:solidFill>
                  <a:srgbClr val="202020"/>
                </a:solidFill>
              </a:rPr>
              <a:t>Exp 4: Feature Set B  —  70 / 30</a:t>
            </a:r>
          </a:p>
          <a:p>
            <a:pPr/>
            <a:r>
              <a:rPr sz="1700" b="0">
                <a:solidFill>
                  <a:srgbClr val="202020"/>
                </a:solidFill>
              </a:rPr>
              <a:t>All runs: scikit-learn LinearRegression, random_state=42, standardized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861F41"/>
                </a:solidFill>
              </a:rPr>
              <a:t>Results: Feature Set B Wins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Experiment</a:t>
                      </a:r>
                    </a:p>
                  </a:txBody>
                  <a:tcPr>
                    <a:solidFill>
                      <a:srgbClr val="861F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861F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861F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R² test</a:t>
                      </a:r>
                    </a:p>
                  </a:txBody>
                  <a:tcPr>
                    <a:solidFill>
                      <a:srgbClr val="861F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RMSE (log)</a:t>
                      </a:r>
                    </a:p>
                  </a:txBody>
                  <a:tcPr>
                    <a:solidFill>
                      <a:srgbClr val="861F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Exp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Set A (4 numeric)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80 /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0.588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0.698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Exp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Set A (4 numeric)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70 /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0.613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0.693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Exp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Set B (6 num + 2 cat)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80 /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0.776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0.538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Exp 4</a:t>
                      </a:r>
                    </a:p>
                  </a:txBody>
                  <a:tcPr>
                    <a:solidFill>
                      <a:srgbClr val="FD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Set B (6 num + 2 cat) ← best</a:t>
                      </a:r>
                    </a:p>
                  </a:txBody>
                  <a:tcPr>
                    <a:solidFill>
                      <a:srgbClr val="FD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70 / 30</a:t>
                      </a:r>
                    </a:p>
                  </a:txBody>
                  <a:tcPr>
                    <a:solidFill>
                      <a:srgbClr val="FD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0.780</a:t>
                      </a:r>
                    </a:p>
                  </a:txBody>
                  <a:tcPr>
                    <a:solidFill>
                      <a:srgbClr val="FD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0.538</a:t>
                      </a:r>
                    </a:p>
                  </a:txBody>
                  <a:tcPr>
                    <a:solidFill>
                      <a:srgbClr val="FDEC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861F41"/>
                </a:solidFill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11556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0">
                <a:solidFill>
                  <a:srgbClr val="202020"/>
                </a:solidFill>
              </a:rPr>
              <a:t>•  Adding 2 categorical variables jumps test R² from ~0.59 to ~0.78.
•  80/20 vs 70/30 split barely matters (&lt; 0.01 R² difference) — result is robust.
•  Best model MAE ≈ 3,700 students on the raw student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861F41"/>
                </a:solidFill>
              </a:rPr>
              <a:t>Best Model: Predicted vs. Actual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480560" cy="4572000"/>
          </a:xfrm>
        </p:spPr>
        <p:txBody>
          <a:bodyPr/>
          <a:lstStyle/>
          <a:p>
            <a:pPr/>
            <a:r>
              <a:rPr sz="1800" b="1">
                <a:solidFill>
                  <a:srgbClr val="202020"/>
                </a:solidFill>
              </a:rPr>
              <a:t>Top standardized coefficients (Exp 4)</a:t>
            </a:r>
          </a:p>
          <a:p>
            <a:pPr lvl="1"/>
            <a:r>
              <a:rPr sz="1500" b="0">
                <a:solidFill>
                  <a:srgbClr val="202020"/>
                </a:solidFill>
              </a:rPr>
              <a:t>Doctoral — research + practice: +0.59</a:t>
            </a:r>
          </a:p>
          <a:p>
            <a:pPr lvl="1"/>
            <a:r>
              <a:rPr sz="1500" b="0">
                <a:solidFill>
                  <a:srgbClr val="202020"/>
                </a:solidFill>
              </a:rPr>
              <a:t>Applicants total: +0.44</a:t>
            </a:r>
          </a:p>
          <a:p>
            <a:pPr lvl="1"/>
            <a:r>
              <a:rPr sz="1500" b="0">
                <a:solidFill>
                  <a:srgbClr val="202020"/>
                </a:solidFill>
              </a:rPr>
              <a:t>Control = Public: +0.38</a:t>
            </a:r>
          </a:p>
          <a:p>
            <a:pPr lvl="1"/>
            <a:r>
              <a:rPr sz="1500" b="0">
                <a:solidFill>
                  <a:srgbClr val="202020"/>
                </a:solidFill>
              </a:rPr>
              <a:t>Doctoral — research/scholarship: +0.35</a:t>
            </a:r>
          </a:p>
          <a:p>
            <a:pPr lvl="1"/>
            <a:r>
              <a:rPr sz="1500" b="0">
                <a:solidFill>
                  <a:srgbClr val="202020"/>
                </a:solidFill>
              </a:rPr>
              <a:t>Master's degree: +0.24</a:t>
            </a:r>
          </a:p>
          <a:p>
            <a:pPr lvl="1"/>
            <a:r>
              <a:rPr sz="1500" b="0">
                <a:solidFill>
                  <a:srgbClr val="202020"/>
                </a:solidFill>
              </a:rPr>
              <a:t>SAT Math 75p: +0.15</a:t>
            </a:r>
          </a:p>
          <a:p>
            <a:pPr/>
            <a:r>
              <a:rPr sz="1800" b="1">
                <a:solidFill>
                  <a:srgbClr val="202020"/>
                </a:solidFill>
              </a:rPr>
              <a:t>Institutional type dominates</a:t>
            </a:r>
          </a:p>
          <a:p>
            <a:pPr lvl="1"/>
            <a:r>
              <a:rPr sz="1400" b="0">
                <a:solidFill>
                  <a:srgbClr val="202020"/>
                </a:solidFill>
              </a:rPr>
              <a:t>Residuals show mild fan — model under-predicts the largest universities.</a:t>
            </a:r>
          </a:p>
        </p:txBody>
      </p:sp>
      <p:pic>
        <p:nvPicPr>
          <p:cNvPr id="4" name="Picture 3" descr="fig5_pred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858000" cy="27709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20640" y="502920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/>
              <a:t>Figure 3: Predicted vs. Actual and Residuals (best model)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861F41"/>
                </a:solidFill>
              </a:rP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1">
                <a:solidFill>
                  <a:srgbClr val="202020"/>
                </a:solidFill>
              </a:rPr>
              <a:t>What we learned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Simple OLS explains ~78% of variance in log(enrollment) on held-out data.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Institutional type (degree + control) matters more than any single numeric metric.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Log transform + avoiding data leakage were the two biggest wins.</a:t>
            </a:r>
          </a:p>
          <a:p>
            <a:pPr/>
            <a:r>
              <a:rPr sz="2200" b="1">
                <a:solidFill>
                  <a:srgbClr val="202020"/>
                </a:solidFill>
              </a:rPr>
              <a:t>Limitations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Under-predicts the largest universities; mild heteroscedasticity.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Complete-case analysis means results generalize only to SAT-reporting institutions.</a:t>
            </a:r>
          </a:p>
          <a:p>
            <a:pPr/>
            <a:r>
              <a:rPr sz="2200" b="1">
                <a:solidFill>
                  <a:srgbClr val="202020"/>
                </a:solidFill>
              </a:rPr>
              <a:t>Future work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Fit a Random Forest / Gradient Boosting regressor and compare.</a:t>
            </a:r>
          </a:p>
          <a:p>
            <a:pPr lvl="1"/>
            <a:r>
              <a:rPr sz="1800" b="0">
                <a:solidFill>
                  <a:srgbClr val="202020"/>
                </a:solidFill>
              </a:rPr>
              <a:t>Use multi-year IPEDS data — model enrollment growth rather than level.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llarmine 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52836"/>
      </a:accent1>
      <a:accent2>
        <a:srgbClr val="697970"/>
      </a:accent2>
      <a:accent3>
        <a:srgbClr val="C8C8C8"/>
      </a:accent3>
      <a:accent4>
        <a:srgbClr val="F7BE00"/>
      </a:accent4>
      <a:accent5>
        <a:srgbClr val="00677F"/>
      </a:accent5>
      <a:accent6>
        <a:srgbClr val="4D4D4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dard Screen Bellarmine Template" id="{109F2BBD-B805-0C47-8BE1-EE5FD54F39DA}" vid="{7B5311A2-F663-764E-9F9C-04F6C47E4F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Katie Kelty</dc:creator>
  <cp:lastModifiedBy>Katie Kelty</cp:lastModifiedBy>
  <cp:revision>10</cp:revision>
  <dcterms:created xsi:type="dcterms:W3CDTF">2020-08-18T13:57:38Z</dcterms:created>
  <dcterms:modified xsi:type="dcterms:W3CDTF">2020-12-02T15:55:13Z</dcterms:modified>
</cp:coreProperties>
</file>